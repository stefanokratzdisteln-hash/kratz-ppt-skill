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9" r:id="rId11"/>
    <p:sldId id="270" r:id="rId12"/>
    <p:sldId id="271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8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37BB9-B170-EBD0-32BC-3313BDC2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0B21C2-E584-B33D-E4C9-179F64131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3AD33A-85F0-1096-4C5C-0D6211C6E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50F09-D526-30EA-0FAD-C34CCC20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947A5F-746D-E5A3-8836-6D2822F2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98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ED38B-18A8-0DEF-86E1-7179A198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C94C3-30D6-143B-8F46-5A696FCD3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AECD5-AC0C-822B-0DB2-E10479ED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C39636-36A0-E0BB-6E13-71777093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DA7B66-64CE-6B5A-27AB-23681644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63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28172-EDC2-6B1F-CF2A-D8882695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154B7F-6560-DF62-CCF9-2435D771C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4F8FD9-526E-5C06-4910-64F36EE5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FB600-F433-8659-FC7A-56565906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7554E-CF7F-A3E1-42DD-BDA03F74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49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8A0DC-4CE2-060F-06BA-7B96F7134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8FCE80-9199-03A5-39FD-D807A5BC5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4DAAE0-B5EA-0696-B77D-19CBA90D0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E3556E-42FE-3CEB-03CB-DA47A42D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84D0E0-D5BF-D0D6-AEE9-FAE744D90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B80DCF-EB7E-4763-EF88-6996CA76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24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08855-694A-FCEE-F0D2-6D73BE07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3E6EE1-E174-694A-64E4-848D17A02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4F5DC3-7648-7C60-341C-17355035E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18E429-32FB-CE33-4D0B-E263C8DDC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36A506-BE2E-A38C-5644-BE04E1AB4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17AA8D-B60F-3B1F-02A4-883ED4D7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3857A7-30D6-9E0E-79C5-3C1E31BD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584E1F-66AD-E239-5126-9EDC8DA1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71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21C54-2CE0-3143-095F-B7D44151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58FEBA-D8D4-0456-F5E4-6F99CBB4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B61B25-1736-9B63-F724-8E5E20B7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C28810-CC02-2C0B-A1D8-514A3C9C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88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F8191D-7411-B346-2BEB-3F42491B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D4B74B-92A8-D6F7-CFD8-E71F9064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6B169A-75BB-50D2-6201-1C4A5A46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33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1876C-7B6A-D7BC-33BD-FF7A3ED55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64C5FD-6EAD-DCC8-2A68-795FB4E68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F9D6BB-9FA8-D58A-A988-898718ED3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DE25C7-7F8A-19F4-0F43-32AEA9EF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27A2AF-01D5-F20B-940F-E9B077FD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84470-28D5-5E53-1AE7-34B27140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85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AF913-223D-7517-0953-651DFEFDE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8A7F5E-5FBA-B922-D787-1A15C9A0CA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986D8B-79A3-3AA0-D220-77E1504B5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83A01E-CDF0-2707-30D7-BC013F77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D6A912-37DA-27E4-00E2-F8679F42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D23619-A52B-99EC-7771-7DEF3CBD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55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60329-C28D-AA2A-9643-8672D362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D0543B-C8E2-D003-2F85-1377EE02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80AF6-C2E3-1159-0BDB-EB1F555A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454F42-85C1-4BBC-A922-DD14E036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23D111-574A-4B8B-6602-2CC119F0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46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24FDE3-6B0C-B904-EA50-F44FC6293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0FE204-F100-836F-47B4-1CF6489C5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2AF7F5-1F00-EA4F-86E5-77EB6A71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E8452B-9079-7E0B-6F14-B513493E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A4854-1D42-5481-EDBE-F6C323A9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06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EDBBC5-F875-2620-AFE9-40DCC3E1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5A7E67-D4EF-E96A-0288-6DEF4DD5B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8AE592-C5E1-FD44-D3B3-90603BE20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BCDCB-C225-46E8-991B-87DBF5B32D97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23EC6F-93A0-0F4F-1145-E685F5288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752BF-5052-B8F5-320C-7FAD82584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BCC07-23EF-4832-9F40-371930B782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5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F9E0F72-F570-E07C-4907-2A0959D0E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417" y="1"/>
            <a:ext cx="13004295" cy="68608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3207024-6A2F-E862-E5AA-A46E6E5B2810}"/>
              </a:ext>
            </a:extLst>
          </p:cNvPr>
          <p:cNvSpPr/>
          <p:nvPr/>
        </p:nvSpPr>
        <p:spPr>
          <a:xfrm>
            <a:off x="-1164658" y="2550695"/>
            <a:ext cx="14986535" cy="304158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0CE2E6-379C-A401-124E-7BDCBEBC06DB}"/>
              </a:ext>
            </a:extLst>
          </p:cNvPr>
          <p:cNvSpPr txBox="1"/>
          <p:nvPr/>
        </p:nvSpPr>
        <p:spPr>
          <a:xfrm>
            <a:off x="424921" y="1843950"/>
            <a:ext cx="122433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0" dirty="0">
                <a:solidFill>
                  <a:schemeClr val="bg1"/>
                </a:solidFill>
                <a:latin typeface="Elephant" panose="02020904090505020303" pitchFamily="18" charset="0"/>
              </a:rPr>
              <a:t>Delta </a:t>
            </a:r>
          </a:p>
          <a:p>
            <a:r>
              <a:rPr lang="en-US" altLang="zh-CN" sz="10000" dirty="0">
                <a:solidFill>
                  <a:schemeClr val="bg1"/>
                </a:solidFill>
                <a:latin typeface="Elephant" panose="02020904090505020303" pitchFamily="18" charset="0"/>
              </a:rPr>
              <a:t>Radiomics</a:t>
            </a:r>
            <a:endParaRPr lang="zh-CN" altLang="en-US" sz="100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DD9B93-5DC4-233E-EC88-0629F4B62303}"/>
              </a:ext>
            </a:extLst>
          </p:cNvPr>
          <p:cNvSpPr txBox="1"/>
          <p:nvPr/>
        </p:nvSpPr>
        <p:spPr>
          <a:xfrm>
            <a:off x="9033505" y="4521121"/>
            <a:ext cx="2704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/>
                </a:solidFill>
                <a:latin typeface="Elephant" panose="02020904090505020303" pitchFamily="18" charset="0"/>
              </a:rPr>
              <a:t>AIE1903</a:t>
            </a:r>
            <a:endParaRPr lang="zh-CN" altLang="en-US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9AD948-58A3-64AA-89AC-81033CD93B00}"/>
              </a:ext>
            </a:extLst>
          </p:cNvPr>
          <p:cNvSpPr txBox="1"/>
          <p:nvPr/>
        </p:nvSpPr>
        <p:spPr>
          <a:xfrm>
            <a:off x="8284144" y="4890453"/>
            <a:ext cx="348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/>
                </a:solidFill>
                <a:latin typeface="Elephant" panose="02020904090505020303" pitchFamily="18" charset="0"/>
              </a:rPr>
              <a:t>LIU Chang (125090409)</a:t>
            </a:r>
            <a:endParaRPr lang="zh-CN" altLang="en-US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331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76B6D1-E9CE-A72D-E985-803F55638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763" y="2574"/>
            <a:ext cx="13080733" cy="68545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351A7A7-8161-BAAB-E42D-0C28E03C5991}"/>
              </a:ext>
            </a:extLst>
          </p:cNvPr>
          <p:cNvSpPr/>
          <p:nvPr/>
        </p:nvSpPr>
        <p:spPr>
          <a:xfrm>
            <a:off x="0" y="0"/>
            <a:ext cx="12192000" cy="694943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F69D2A-ECD8-360B-84FB-04CA07C7F1C4}"/>
              </a:ext>
            </a:extLst>
          </p:cNvPr>
          <p:cNvSpPr/>
          <p:nvPr/>
        </p:nvSpPr>
        <p:spPr>
          <a:xfrm>
            <a:off x="-442763" y="389467"/>
            <a:ext cx="13080733" cy="145626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en-US" altLang="zh-CN" sz="4000" dirty="0">
                <a:latin typeface="Elephant" panose="02020904090505020303" pitchFamily="18" charset="0"/>
              </a:rPr>
              <a:t>D</a:t>
            </a:r>
            <a:r>
              <a:rPr lang="zh-CN" altLang="zh-CN" sz="4000" dirty="0">
                <a:latin typeface="Elephant" panose="02020904090505020303" pitchFamily="18" charset="0"/>
              </a:rPr>
              <a:t>efinition and </a:t>
            </a:r>
            <a:r>
              <a:rPr lang="en-US" altLang="zh-CN" sz="4000" dirty="0">
                <a:latin typeface="Elephant" panose="02020904090505020303" pitchFamily="18" charset="0"/>
              </a:rPr>
              <a:t>S</a:t>
            </a:r>
            <a:r>
              <a:rPr lang="zh-CN" altLang="zh-CN" sz="4000" dirty="0">
                <a:latin typeface="Elephant" panose="02020904090505020303" pitchFamily="18" charset="0"/>
              </a:rPr>
              <a:t>ignificance</a:t>
            </a:r>
            <a:endParaRPr lang="zh-CN" altLang="en-US" sz="4000" dirty="0">
              <a:latin typeface="Elephant" panose="02020904090505020303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96F85D-1D1E-5D63-FD9D-62683252C212}"/>
              </a:ext>
            </a:extLst>
          </p:cNvPr>
          <p:cNvSpPr/>
          <p:nvPr/>
        </p:nvSpPr>
        <p:spPr>
          <a:xfrm>
            <a:off x="270936" y="2232626"/>
            <a:ext cx="11650128" cy="447297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endParaRPr lang="zh-CN" altLang="en-US" sz="4000" dirty="0">
              <a:latin typeface="Elephant" panose="020209040905050203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902773-239D-0E73-3AD6-097447E4103A}"/>
              </a:ext>
            </a:extLst>
          </p:cNvPr>
          <p:cNvSpPr txBox="1"/>
          <p:nvPr/>
        </p:nvSpPr>
        <p:spPr>
          <a:xfrm>
            <a:off x="270936" y="2394584"/>
            <a:ext cx="58335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457200"/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Delta-radiomics measures changes in </a:t>
            </a:r>
            <a:r>
              <a:rPr lang="zh-CN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imaging features 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zh-CN" altLang="zh-CN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scans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taken at different time points. </a:t>
            </a:r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0" indent="-457200"/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0" indent="-457200"/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help assess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 response 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progression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earlier by detecting changes beyond tumor size alone.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753F6F0-4291-425B-5050-420D206DD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3070072"/>
            <a:ext cx="5952064" cy="248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5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C1BB5-55B7-3335-D359-75457DD8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61A1AF-57D0-EED9-7D29-53AFF7A8B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763" y="2574"/>
            <a:ext cx="13080733" cy="68545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5682ED-27E3-AF51-1743-2E3842C0FDA0}"/>
              </a:ext>
            </a:extLst>
          </p:cNvPr>
          <p:cNvSpPr/>
          <p:nvPr/>
        </p:nvSpPr>
        <p:spPr>
          <a:xfrm>
            <a:off x="0" y="0"/>
            <a:ext cx="12192000" cy="694943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0D212-E012-BA3A-D567-2463F691298C}"/>
              </a:ext>
            </a:extLst>
          </p:cNvPr>
          <p:cNvSpPr/>
          <p:nvPr/>
        </p:nvSpPr>
        <p:spPr>
          <a:xfrm>
            <a:off x="0" y="0"/>
            <a:ext cx="12192000" cy="685453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endParaRPr lang="zh-CN" altLang="en-US" sz="4000" dirty="0">
              <a:latin typeface="Elephant" panose="02020904090505020303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DBE0F0-CCE8-9144-B811-91800FFA7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33" y="1117600"/>
            <a:ext cx="9572461" cy="564900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001B835-042A-FAED-5C88-24EFA0116BFC}"/>
              </a:ext>
            </a:extLst>
          </p:cNvPr>
          <p:cNvSpPr txBox="1"/>
          <p:nvPr/>
        </p:nvSpPr>
        <p:spPr>
          <a:xfrm>
            <a:off x="491067" y="508008"/>
            <a:ext cx="2726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prstClr val="white"/>
                </a:solidFill>
                <a:latin typeface="Elephant" panose="02020904090505020303" pitchFamily="18" charset="0"/>
                <a:ea typeface="等线" panose="02010600030101010101" pitchFamily="2" charset="-122"/>
              </a:rPr>
              <a:t>Workflow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01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6EC7-5862-AF76-C8E9-0347AAF2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6DCAE9-0AEA-5EF9-799A-3C637FA34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763" y="2574"/>
            <a:ext cx="13080733" cy="68545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653DFF7-B177-F349-65BD-EAC16378C428}"/>
              </a:ext>
            </a:extLst>
          </p:cNvPr>
          <p:cNvSpPr/>
          <p:nvPr/>
        </p:nvSpPr>
        <p:spPr>
          <a:xfrm>
            <a:off x="0" y="0"/>
            <a:ext cx="12192000" cy="694943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003146-53DD-013C-9590-EBC3E2099B86}"/>
              </a:ext>
            </a:extLst>
          </p:cNvPr>
          <p:cNvSpPr/>
          <p:nvPr/>
        </p:nvSpPr>
        <p:spPr>
          <a:xfrm>
            <a:off x="0" y="0"/>
            <a:ext cx="12192000" cy="685453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endParaRPr lang="zh-CN" altLang="en-US" sz="4000" dirty="0">
              <a:latin typeface="Elephant" panose="020209040905050203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6ADF34-2BCD-D245-1D55-13AC949782BA}"/>
              </a:ext>
            </a:extLst>
          </p:cNvPr>
          <p:cNvSpPr txBox="1"/>
          <p:nvPr/>
        </p:nvSpPr>
        <p:spPr>
          <a:xfrm>
            <a:off x="156854" y="821266"/>
            <a:ext cx="7454679" cy="6328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lvl="0" indent="-457200">
              <a:lnSpc>
                <a:spcPts val="336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image </a:t>
            </a:r>
            <a:r>
              <a:rPr lang="zh-C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acquisition</a:t>
            </a:r>
            <a:b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follow-up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scans at defined treatment times.</a:t>
            </a:r>
          </a:p>
          <a:p>
            <a:pPr marL="720000" lvl="0" indent="-457200">
              <a:lnSpc>
                <a:spcPts val="336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zh-C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b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comparability through appropriate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resampling, and intensity normalization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000" lvl="0" indent="-457200">
              <a:lnSpc>
                <a:spcPts val="336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b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Delineate the tumor region at each time point.</a:t>
            </a:r>
          </a:p>
          <a:p>
            <a:pPr marL="720000" lvl="0" indent="-457200">
              <a:lnSpc>
                <a:spcPts val="336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Radiomic </a:t>
            </a:r>
            <a:r>
              <a:rPr lang="zh-C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b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corresponding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shape, intensity, and texture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 using consistent settings.</a:t>
            </a:r>
          </a:p>
          <a:p>
            <a:pPr>
              <a:lnSpc>
                <a:spcPts val="3360"/>
              </a:lnSpc>
              <a:spcAft>
                <a:spcPts val="1200"/>
              </a:spcAft>
            </a:pP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88C2813-5BEF-A40E-6353-FE253EDBB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060" y="990002"/>
            <a:ext cx="4588011" cy="521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4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0859-A566-3D47-8297-34E44B8C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D31298-BC57-5EA7-629B-22CEA6270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763" y="2574"/>
            <a:ext cx="13080733" cy="68545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27086A3-F510-B09F-57B3-5A9DEF721DA0}"/>
              </a:ext>
            </a:extLst>
          </p:cNvPr>
          <p:cNvSpPr/>
          <p:nvPr/>
        </p:nvSpPr>
        <p:spPr>
          <a:xfrm>
            <a:off x="0" y="0"/>
            <a:ext cx="12192000" cy="694943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7AEFEA-D00B-86DE-D098-B2251B8ED1A2}"/>
              </a:ext>
            </a:extLst>
          </p:cNvPr>
          <p:cNvSpPr/>
          <p:nvPr/>
        </p:nvSpPr>
        <p:spPr>
          <a:xfrm>
            <a:off x="0" y="0"/>
            <a:ext cx="12192000" cy="685453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endParaRPr lang="zh-CN" altLang="en-US" sz="4000" dirty="0">
              <a:latin typeface="Elephant" panose="020209040905050203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C3B73C-DE33-BE1B-1114-95CE179DDEED}"/>
              </a:ext>
            </a:extLst>
          </p:cNvPr>
          <p:cNvSpPr txBox="1"/>
          <p:nvPr/>
        </p:nvSpPr>
        <p:spPr>
          <a:xfrm>
            <a:off x="156854" y="821266"/>
            <a:ext cx="74546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lvl="0" indent="-457200">
              <a:lnSpc>
                <a:spcPts val="336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Delta feature 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b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change in each corresponding feature.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E038DA-DBC2-1967-D47C-4CC267601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691" y="2231661"/>
            <a:ext cx="7972642" cy="398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5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89209-168A-1E8C-BB3F-F5FB3288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ACB17A-0291-2D9F-DF5F-7C42B530E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763" y="2574"/>
            <a:ext cx="13080733" cy="68545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CE297E-EBCC-5122-7114-D878F619714D}"/>
              </a:ext>
            </a:extLst>
          </p:cNvPr>
          <p:cNvSpPr/>
          <p:nvPr/>
        </p:nvSpPr>
        <p:spPr>
          <a:xfrm>
            <a:off x="0" y="0"/>
            <a:ext cx="12192000" cy="694943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2B8661-A2C8-2A40-951B-F851139ACD10}"/>
              </a:ext>
            </a:extLst>
          </p:cNvPr>
          <p:cNvSpPr/>
          <p:nvPr/>
        </p:nvSpPr>
        <p:spPr>
          <a:xfrm>
            <a:off x="0" y="0"/>
            <a:ext cx="12192000" cy="685453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endParaRPr lang="zh-CN" altLang="en-US" sz="4000" dirty="0">
              <a:latin typeface="Elephant" panose="020209040905050203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C41050-1B2A-D00E-DDE0-7C838C8E7BE3}"/>
              </a:ext>
            </a:extLst>
          </p:cNvPr>
          <p:cNvSpPr txBox="1"/>
          <p:nvPr/>
        </p:nvSpPr>
        <p:spPr>
          <a:xfrm>
            <a:off x="156854" y="821266"/>
            <a:ext cx="7454679" cy="342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457200">
              <a:lnSpc>
                <a:spcPts val="336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  <a:r>
              <a:rPr lang="zh-C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b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informative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features, and remove redundant features using training data.</a:t>
            </a:r>
          </a:p>
          <a:p>
            <a:pPr marL="720000" indent="-457200">
              <a:lnSpc>
                <a:spcPts val="336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zh-CN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br>
              <a:rPr lang="zh-CN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prediction model for treatment </a:t>
            </a:r>
            <a:r>
              <a:rPr lang="zh-CN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response, survival, or recurrence</a:t>
            </a:r>
            <a:r>
              <a:rPr lang="zh-CN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000" lvl="0" indent="-457200">
              <a:lnSpc>
                <a:spcPts val="3360"/>
              </a:lnSpc>
              <a:spcAft>
                <a:spcPts val="1200"/>
              </a:spcAft>
            </a:pP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97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CFFD-CA39-29F8-AC66-38EE4967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DC069C-E18C-8399-8D86-262AFDF0F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2763" y="2574"/>
            <a:ext cx="13080733" cy="685453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8A60853-E94A-FF98-08A5-982351D9D2F3}"/>
              </a:ext>
            </a:extLst>
          </p:cNvPr>
          <p:cNvSpPr/>
          <p:nvPr/>
        </p:nvSpPr>
        <p:spPr>
          <a:xfrm>
            <a:off x="0" y="0"/>
            <a:ext cx="12192000" cy="694943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42E2DF-BFD6-338E-8CF8-02A1743CA3F0}"/>
              </a:ext>
            </a:extLst>
          </p:cNvPr>
          <p:cNvSpPr/>
          <p:nvPr/>
        </p:nvSpPr>
        <p:spPr>
          <a:xfrm>
            <a:off x="0" y="0"/>
            <a:ext cx="12192000" cy="685453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endParaRPr lang="zh-CN" altLang="en-US" sz="4000" dirty="0">
              <a:latin typeface="Elephant" panose="02020904090505020303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DC2E4F-F4C9-4BB4-70FE-286DF996DEF3}"/>
              </a:ext>
            </a:extLst>
          </p:cNvPr>
          <p:cNvSpPr txBox="1"/>
          <p:nvPr/>
        </p:nvSpPr>
        <p:spPr>
          <a:xfrm>
            <a:off x="173788" y="448733"/>
            <a:ext cx="745467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457200">
              <a:lnSpc>
                <a:spcPct val="100000"/>
              </a:lnSpc>
              <a:spcAft>
                <a:spcPts val="1200"/>
              </a:spcAft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Model </a:t>
            </a:r>
            <a:r>
              <a:rPr lang="en-US" altLang="zh-CN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br>
              <a:rPr lang="zh-CN" altLang="zh-CN" sz="2800" dirty="0"/>
            </a:b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</a:t>
            </a:r>
            <a:r>
              <a:rPr lang="en-US" altLang="zh-CN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AUC, accuracy, sensitivity, and specificity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validate it on independent data.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7ED495-CA04-82B8-C723-84E019A50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85" y="2419754"/>
            <a:ext cx="11795029" cy="427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3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FB58B-4666-B2F3-35EB-433603AE2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6E6A988-CE56-7D84-5118-EE48DC280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8062" r="1375" b="849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91469C-93FF-C3E9-46E5-CF413D2ADFA4}"/>
              </a:ext>
            </a:extLst>
          </p:cNvPr>
          <p:cNvSpPr/>
          <p:nvPr/>
        </p:nvSpPr>
        <p:spPr>
          <a:xfrm>
            <a:off x="5207267" y="0"/>
            <a:ext cx="617941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C6D18D-8516-18B7-5A53-BEDA63714303}"/>
              </a:ext>
            </a:extLst>
          </p:cNvPr>
          <p:cNvSpPr txBox="1"/>
          <p:nvPr/>
        </p:nvSpPr>
        <p:spPr>
          <a:xfrm>
            <a:off x="5621511" y="660401"/>
            <a:ext cx="4716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prstClr val="white"/>
                </a:solidFill>
                <a:latin typeface="Elephant" panose="02020904090505020303" pitchFamily="18" charset="0"/>
                <a:ea typeface="等线" panose="02010600030101010101" pitchFamily="2" charset="-122"/>
              </a:rPr>
              <a:t>Guo et al. (2022)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FCEAF2D-D351-662E-66FA-11C22F5F5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577" y="1664499"/>
            <a:ext cx="3234623" cy="459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3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CDEA-738A-4FFA-F785-152D78C9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07717F2-B7B0-9222-D04C-F918C9981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8062" r="1375" b="849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2000C50-41FA-3D17-BE16-E5559B33AFC3}"/>
              </a:ext>
            </a:extLst>
          </p:cNvPr>
          <p:cNvSpPr/>
          <p:nvPr/>
        </p:nvSpPr>
        <p:spPr>
          <a:xfrm>
            <a:off x="5207267" y="0"/>
            <a:ext cx="6179419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9F556E-D398-4161-9E94-D711CF7CF067}"/>
              </a:ext>
            </a:extLst>
          </p:cNvPr>
          <p:cNvSpPr txBox="1"/>
          <p:nvPr/>
        </p:nvSpPr>
        <p:spPr>
          <a:xfrm>
            <a:off x="5579177" y="474133"/>
            <a:ext cx="573130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dirty="0">
                <a:solidFill>
                  <a:prstClr val="white"/>
                </a:solidFill>
                <a:latin typeface="Elephant" panose="02020904090505020303" pitchFamily="18" charset="0"/>
                <a:ea typeface="等线" panose="02010600030101010101" pitchFamily="2" charset="-122"/>
              </a:rPr>
              <a:t>Predicting response after one chemotherapy cycle</a:t>
            </a:r>
            <a:endParaRPr lang="zh-CN" altLang="en-US" sz="35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F45422-3E5A-A387-8B4E-06B0BB31A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89" y="3032366"/>
            <a:ext cx="4395090" cy="2657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E8382B5-4A95-42A5-ABFE-E3FE2A5C7946}"/>
              </a:ext>
            </a:extLst>
          </p:cNvPr>
          <p:cNvSpPr txBox="1"/>
          <p:nvPr/>
        </p:nvSpPr>
        <p:spPr>
          <a:xfrm>
            <a:off x="5325175" y="2387597"/>
            <a:ext cx="47413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457200"/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Guo et al. used </a:t>
            </a:r>
            <a:r>
              <a:rPr lang="zh-CN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MRI changes </a:t>
            </a:r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predict </a:t>
            </a:r>
            <a:r>
              <a:rPr lang="zh-CN" altLang="zh-CN" sz="2400" dirty="0">
                <a:solidFill>
                  <a:srgbClr val="E08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pathological complete response (pCR) </a:t>
            </a:r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surgery after treatment.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A2D508-A82C-98EE-3A66-5095A06A131B}"/>
                  </a:ext>
                </a:extLst>
              </p:cNvPr>
              <p:cNvSpPr txBox="1"/>
              <p:nvPr/>
            </p:nvSpPr>
            <p:spPr>
              <a:xfrm>
                <a:off x="5579177" y="4635601"/>
                <a:ext cx="4953001" cy="562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zh-CN" altLang="en-US" sz="280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before</m:t>
                          </m:r>
                          <m:r>
                            <a:rPr lang="zh-CN" altLang="en-US" sz="28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NAC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after</m:t>
                          </m:r>
                          <m:r>
                            <a:rPr lang="zh-CN" altLang="en-US" sz="28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cycle</m:t>
                          </m:r>
                          <m:r>
                            <a:rPr lang="zh-CN" altLang="en-US" sz="2800" i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1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AA2D508-A82C-98EE-3A66-5095A06A1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177" y="4635601"/>
                <a:ext cx="4953001" cy="562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86C2AA3F-C333-CFB9-C53B-4F0110F806E1}"/>
              </a:ext>
            </a:extLst>
          </p:cNvPr>
          <p:cNvSpPr txBox="1"/>
          <p:nvPr/>
        </p:nvSpPr>
        <p:spPr>
          <a:xfrm>
            <a:off x="5358105" y="5274768"/>
            <a:ext cx="5352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457200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 women — 98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42 </a:t>
            </a:r>
            <a:r>
              <a:rPr lang="en-US" altLang="zh-CN" sz="2400" dirty="0">
                <a:solidFill>
                  <a:srgbClr val="E08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validation</a:t>
            </a:r>
            <a:endParaRPr lang="zh-CN" altLang="en-US" sz="2400" dirty="0">
              <a:solidFill>
                <a:srgbClr val="E08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69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CBDD2-6948-5E7A-F8D9-36DD4656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CEA1DFE-1367-B160-A8BA-CDF3CBE18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" t="8062" r="1375" b="849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93546B2-25AB-8F4E-6DDC-E2D215D77A9E}"/>
              </a:ext>
            </a:extLst>
          </p:cNvPr>
          <p:cNvSpPr/>
          <p:nvPr/>
        </p:nvSpPr>
        <p:spPr>
          <a:xfrm>
            <a:off x="0" y="228600"/>
            <a:ext cx="12606867" cy="541866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EB7D5A-18F5-7815-F644-28C42643D196}"/>
              </a:ext>
            </a:extLst>
          </p:cNvPr>
          <p:cNvSpPr txBox="1"/>
          <p:nvPr/>
        </p:nvSpPr>
        <p:spPr>
          <a:xfrm>
            <a:off x="645227" y="684638"/>
            <a:ext cx="535222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dirty="0">
                <a:solidFill>
                  <a:prstClr val="white"/>
                </a:solidFill>
                <a:latin typeface="Elephant" panose="02020904090505020303" pitchFamily="18" charset="0"/>
                <a:ea typeface="等线" panose="02010600030101010101" pitchFamily="2" charset="-122"/>
              </a:rPr>
              <a:t>Delta features improved prediction over baseline</a:t>
            </a:r>
            <a:endParaRPr lang="zh-CN" altLang="en-US" sz="35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47DA8F-5A36-DC1B-4848-232038BCABB3}"/>
              </a:ext>
            </a:extLst>
          </p:cNvPr>
          <p:cNvSpPr txBox="1"/>
          <p:nvPr/>
        </p:nvSpPr>
        <p:spPr>
          <a:xfrm>
            <a:off x="397573" y="2624375"/>
            <a:ext cx="47413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indent="-457200"/>
            <a:r>
              <a:rPr lang="en-US" altLang="zh-CN" sz="2400" dirty="0">
                <a:solidFill>
                  <a:srgbClr val="E08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Delta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outperformed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 = 0.047); while the difference from </a:t>
            </a:r>
            <a:r>
              <a:rPr lang="en-US" altLang="zh-CN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not significant (p = 0.500).</a:t>
            </a:r>
          </a:p>
          <a:p>
            <a:pPr marL="720000" indent="-457200"/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0" indent="-457200"/>
            <a:r>
              <a:rPr lang="en-US" altLang="zh-CN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Single-center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evidence; external validation is needed.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581AA4-0752-83FD-77A0-F550407E4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683" y="3394556"/>
            <a:ext cx="6463716" cy="28050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951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94688-957B-21E2-D362-92D47D1A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21AE497-7053-80A3-D374-92B6173A4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" b="1250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46D535-13A3-C310-BBFA-17BC9B4507E6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88F423-96A9-2834-649C-734D45554673}"/>
              </a:ext>
            </a:extLst>
          </p:cNvPr>
          <p:cNvSpPr txBox="1"/>
          <p:nvPr/>
        </p:nvSpPr>
        <p:spPr>
          <a:xfrm>
            <a:off x="567266" y="1576456"/>
            <a:ext cx="3064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prstClr val="white"/>
                </a:solidFill>
                <a:latin typeface="Elephant" panose="02020904090505020303" pitchFamily="18" charset="0"/>
                <a:ea typeface="等线" panose="02010600030101010101" pitchFamily="2" charset="-122"/>
              </a:rPr>
              <a:t>Challenges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593143-3A3F-6250-424F-739900AAA48F}"/>
              </a:ext>
            </a:extLst>
          </p:cNvPr>
          <p:cNvSpPr/>
          <p:nvPr/>
        </p:nvSpPr>
        <p:spPr>
          <a:xfrm>
            <a:off x="0" y="2489200"/>
            <a:ext cx="12192000" cy="342558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CC20A3-37FC-CD28-9B81-7AC92594D851}"/>
              </a:ext>
            </a:extLst>
          </p:cNvPr>
          <p:cNvSpPr txBox="1"/>
          <p:nvPr/>
        </p:nvSpPr>
        <p:spPr>
          <a:xfrm>
            <a:off x="969433" y="2853267"/>
            <a:ext cx="102531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lvl="0" indent="-457200">
              <a:spcAft>
                <a:spcPts val="1800"/>
              </a:spcAft>
            </a:pPr>
            <a:r>
              <a:rPr lang="zh-CN" altLang="zh-CN" sz="3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zh-CN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scan settings or tumor boundaries can </a:t>
            </a:r>
            <a:r>
              <a:rPr lang="zh-CN" altLang="zh-CN" sz="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like treatment effects</a:t>
            </a:r>
            <a:r>
              <a:rPr lang="zh-CN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000" lvl="0" indent="-457200">
              <a:spcAft>
                <a:spcPts val="1800"/>
              </a:spcAft>
            </a:pPr>
            <a:r>
              <a:rPr lang="zh-CN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Guo’s results are encouraging, but validation in </a:t>
            </a:r>
            <a:r>
              <a:rPr lang="zh-CN" altLang="zh-CN" sz="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 patients from one hospital</a:t>
            </a:r>
            <a:r>
              <a:rPr lang="zh-CN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leaves a question: how well would the model work elsewhere?</a:t>
            </a:r>
          </a:p>
          <a:p>
            <a:pPr>
              <a:spcAft>
                <a:spcPts val="1800"/>
              </a:spcAft>
            </a:pP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81914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94636-943D-1B20-0E0D-7DB60756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8841C8E-2927-CDA3-B535-2D15A2D57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" b="1250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32FD8D8-B075-29B5-076F-88E93F13235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78F6EB-F0F8-2F24-BCEB-5EEFF8F11C4E}"/>
              </a:ext>
            </a:extLst>
          </p:cNvPr>
          <p:cNvSpPr txBox="1"/>
          <p:nvPr/>
        </p:nvSpPr>
        <p:spPr>
          <a:xfrm>
            <a:off x="567266" y="1170053"/>
            <a:ext cx="45381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prstClr val="white"/>
                </a:solidFill>
                <a:latin typeface="Elephant" panose="02020904090505020303" pitchFamily="18" charset="0"/>
                <a:ea typeface="等线" panose="02010600030101010101" pitchFamily="2" charset="-122"/>
              </a:rPr>
              <a:t>Future development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D661CA-BA4A-97B4-40D3-03571C7BE408}"/>
              </a:ext>
            </a:extLst>
          </p:cNvPr>
          <p:cNvSpPr/>
          <p:nvPr/>
        </p:nvSpPr>
        <p:spPr>
          <a:xfrm>
            <a:off x="0" y="2641598"/>
            <a:ext cx="12192000" cy="298026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018C2F-ED83-3824-C4B3-972DDEA847CE}"/>
              </a:ext>
            </a:extLst>
          </p:cNvPr>
          <p:cNvSpPr txBox="1"/>
          <p:nvPr/>
        </p:nvSpPr>
        <p:spPr>
          <a:xfrm>
            <a:off x="969433" y="3046820"/>
            <a:ext cx="1025313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0" lvl="0" indent="-457200">
              <a:spcAft>
                <a:spcPts val="1800"/>
              </a:spcAft>
            </a:pPr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would first test whether the </a:t>
            </a:r>
            <a:r>
              <a:rPr lang="en-US" altLang="zh-CN" sz="3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feature changes </a:t>
            </a:r>
            <a:r>
              <a:rPr lang="en-US" altLang="zh-CN" sz="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 useful across hospitals</a:t>
            </a:r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20000" lvl="0" indent="-457200">
              <a:spcAft>
                <a:spcPts val="1800"/>
              </a:spcAft>
            </a:pPr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me, the key question is whether an </a:t>
            </a:r>
            <a:r>
              <a:rPr lang="en-US" altLang="zh-CN" sz="3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</a:t>
            </a:r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doctors make a </a:t>
            </a:r>
            <a:r>
              <a:rPr lang="en-US" altLang="zh-CN" sz="3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treatment decision</a:t>
            </a:r>
            <a:r>
              <a:rPr lang="en-US" altLang="zh-CN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190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A945-91A6-BDF9-EA54-0575C657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8650BEB-E13B-7B19-7189-20D36E5F0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417" y="1"/>
            <a:ext cx="13004295" cy="68608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E84D614-4D84-FC31-1898-542A7A2983D2}"/>
              </a:ext>
            </a:extLst>
          </p:cNvPr>
          <p:cNvSpPr/>
          <p:nvPr/>
        </p:nvSpPr>
        <p:spPr>
          <a:xfrm>
            <a:off x="-1164658" y="2550695"/>
            <a:ext cx="14986535" cy="304158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5DB5D2-B491-A0EB-F58D-D2E2F331492A}"/>
              </a:ext>
            </a:extLst>
          </p:cNvPr>
          <p:cNvSpPr txBox="1"/>
          <p:nvPr/>
        </p:nvSpPr>
        <p:spPr>
          <a:xfrm>
            <a:off x="424921" y="1843950"/>
            <a:ext cx="122433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0" dirty="0">
                <a:solidFill>
                  <a:schemeClr val="bg1"/>
                </a:solidFill>
                <a:latin typeface="Elephant" panose="02020904090505020303" pitchFamily="18" charset="0"/>
              </a:rPr>
              <a:t>Thanks for Listening!</a:t>
            </a:r>
            <a:endParaRPr lang="zh-CN" altLang="en-US" sz="10000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BB96CF-684B-AB38-5A80-37A70AC5D170}"/>
              </a:ext>
            </a:extLst>
          </p:cNvPr>
          <p:cNvSpPr txBox="1"/>
          <p:nvPr/>
        </p:nvSpPr>
        <p:spPr>
          <a:xfrm>
            <a:off x="9033505" y="4521121"/>
            <a:ext cx="2704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/>
                </a:solidFill>
                <a:latin typeface="Elephant" panose="02020904090505020303" pitchFamily="18" charset="0"/>
              </a:rPr>
              <a:t>AIE1903</a:t>
            </a:r>
            <a:endParaRPr lang="zh-CN" altLang="en-US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A17BDA-21DE-81B4-0E9C-6E82973626AA}"/>
              </a:ext>
            </a:extLst>
          </p:cNvPr>
          <p:cNvSpPr txBox="1"/>
          <p:nvPr/>
        </p:nvSpPr>
        <p:spPr>
          <a:xfrm>
            <a:off x="8284144" y="4890453"/>
            <a:ext cx="348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/>
                </a:solidFill>
                <a:latin typeface="Elephant" panose="02020904090505020303" pitchFamily="18" charset="0"/>
              </a:rPr>
              <a:t>LIU Chang (125090409)</a:t>
            </a:r>
            <a:endParaRPr lang="zh-CN" altLang="en-US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74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1181</Words>
  <Application>Microsoft Office PowerPoint</Application>
  <PresentationFormat>宽屏</PresentationFormat>
  <Paragraphs>35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Elephant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 Liu (SAI,125090409)</dc:creator>
  <cp:lastModifiedBy>Chang Liu (SAI,125090409)</cp:lastModifiedBy>
  <cp:revision>8</cp:revision>
  <dcterms:created xsi:type="dcterms:W3CDTF">2026-10-21T14:12:29Z</dcterms:created>
  <dcterms:modified xsi:type="dcterms:W3CDTF">2026-10-21T16:54:22Z</dcterms:modified>
</cp:coreProperties>
</file>